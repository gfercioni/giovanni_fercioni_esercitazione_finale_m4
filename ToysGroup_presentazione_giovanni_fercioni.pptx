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3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0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154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+28% e +21%: Task 3c punto 3, totali annuali: 2023 = 145.805,40 €; 2024 = 187.175,00 €; 2025 = 227.095,10 € (187.175,00 / 145.805,40 = +28,4%; 227.095,10 / 187.175,00 = +21,3%).
- Un rivenditore su quattro: Task 6a punto 1, quota di churn 0,237 = 71 su 300 (tabella incrociata del Task 4: 229 restano, 71 churn).
- Individuazione in anticipo: Task 6a punto 2, matrice di confusione con soglia 0,3: 10 churn individuati su 14 nel test (Recall 0,714, Task 6a punto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- 3 anni: Task 3c punto 3, serie mensile di 36 righe (gennaio 2023 – dicembre 2025); Task 3c punto 4, ultima data 2025-12-30; prima vendita 2023-01-01 (Task 3c punto 2).
- 1.900 vendite analizzate: Task 3a punto 2, righe dopo dropna = 1900 (righe prima 2000, rimosse 100).
- 12 prodotti in 3 categorie: Task 1 punto 1 (Products: 12; Categories: 3 - Giochi da tavolo, Giocattoli, Outdoor); Task 2 punto 1, products shape (12, 4).
- 300 rivenditori: Task 2 punto 1, resellers shape (300, 7).
- 9 paesi in 3 aree: Task 1 punto 1 (Regions: 9); Task 2 punto 1, regions shape (9, 3); aree Centro, Nord e Sud Europa (Task 3b punto 2).
- 95% e 100 vendite escluse: Task 3a punto 1, SalesAmount con 100 NaN su 2000 righe (5,0%); Task 3a punto 2, 100 righe rimosse.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Valori mensili del grafico: Task 3c punto 3, tabella monthly (Revenue per Year, Month).
- Totali annui: Task 3c punto 3: 2023 = 145.805,4 €; 2024 = 187.175,0 €; 2025 = 227.095,1 €. Variazioni: +28,4% e +21,3%.
- Mese migliore: Task 3c punto 3, "Mese con fatturato massimo: 05/2025 → 29368.30 €".
- Oscillazioni: Task 3c punto 3, PctChange da -44,11% (feb 2024) a +110,84% (mar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Fatturato per categoria: Task 3b punto 2 (e Task 1 punto 3): Outdoor 331.998,4 €; Giocattoli 174.832,0 €; Giochi da tavolo 53.245,1 €; totale 560.075,5 €.
- Quote: 331.998,4/560.075,5 = 59,3%; 174.832/560.075,5 = 31,2%; 53.245,1/560.075,5 = 9,5% (arrotondato a 10%).
- Scontrino medio = fatturato / transazioni (Task 3b punto 2): 331.998,4/767 = 432,9 €; 174.832/644 = 271,5 €; 53.245,1/489 = 108,9 €.
- Mediane: Task 4 punto 2a: Outdoor 316,0; Giocattoli 236,0; Giochi da tavolo 89,5.
- Vendite sopra 500 €: Task 7 caso 4: 292.075,70 € / 560.075,50 € = 52,1%.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Fatturato per paese, transazioni e AvgTicket: Task 4 punto 3, tabella by_state.
- Austria: 74.426,4 € / 560.075,5 € = 13,3%; 278 transazioni; scontrino medio 267,72 € (il più basso).
- Danimarca ultima: 48.904,4 €.
- Aree di vendita: Task 3b punto 2: Centro Europa 201.062,2 €; Nord Europa 190.189,0 €; Sud Europa 168.824,3 €.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Task 6a punto 1: quota di churn totale 0,237.
- Task 4, ulteriori verifiche (pd.crosstab): Churn 0 = 229, Churn 1 = 71, totale 300.
- Definizione di churn: slide di contesto ("Churn = 1 se il rivenditore non riordina da oltre 6 mesi").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Medie per gruppo: Task 4, cella "ulteriori verifiche": Churn 0 → Ordini12m 17,77; GiorniUltimoOrdine 76,93; ScontoMedio 0,13; Reclami 0,96. Churn 1 → 13,58; 133,54; 0,13; 1,13.
- Correlazioni con il churn (Task 4 punto 2b): GiorniUltimoOrdine +0,43; Ordini12m -0,35; ScontoMedio -0,01; Reclami +0,07.
- Il churn non deriva per definizione dai giorni dall'ultimo ordine: nessun rivenditore supera 180 giorni (massimo 180), mentre 71 hanno Churn = 1 (Task 4, ulteriori verifiche).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4E14-EE85-3671-14A3-7F92BE7E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58A89-4BF0-BC80-E3E3-6E8AFC341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B5ABC-DB5F-D599-7314-557F7498D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Medie per gruppo: Task 4, cella "ulteriori verifiche": Churn 0 → Ordini12m 17,77; GiorniUltimoOrdine 76,93; ScontoMedio 0,13; Reclami 0,96. Churn 1 → 13,58; 133,54; 0,13; 1,13.
- Correlazioni con il churn (Task 4 punto 2b): GiorniUltimoOrdine +0,43; Ordini12m -0,35; ScontoMedio -0,01; Reclami +0,07.
- Il churn non deriva per definizione dai giorni dall'ultimo ordine: nessun rivenditore supera 180 giorni (massimo 180), mentre 71 hanno Churn = 1 (Task 4, ulteriori verifiche).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4D392-6AB5-49DB-E3CF-18CD71C76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41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Task 6b punto 3, tabella cluster_profile: Top clienti (cluster 1) 64, 22,20, 37,56, 3.490,99, 6,25%; Regolari (2) 83, 19,94, 44,51, 1.422,53, 8,43%; Clienti di valore in calo (0) 79, 14,48, 124,19, 2.019,67, 27,85%; Dormienti (3) 74, 11,00, 151,19, 797,68, 51,35%.
- Numero di segmenti scelto con il metodo del gomito (k = 4): Task 6b punto 2.
- Revenue è il fatturato totale 2023–2025 del rivenditore (Task 6b punto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Task 6a punto 2, matrice di confusione con soglia 0,3: veri negativi 36, falsi positivi 10, falsi negativi 4, veri positivi 10 (14 churn nel test di 60).
- Task 6a punto 3: soglia 0,3 → Recall 0,714 (7 su 10), Precision 0,5 (1 su 2); soglia 0,5 → Recall 0,286 (4 su 14).
- Task 6a AUC: test 0,761 (circa 3 su 4).
- Il confronto dei costi è un'ipotesi indicata dalla traccia (riquadro "Da ricordare"): il dataset non contiene i costi.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Previsioni: Task 5 punto 3 (opzionale): MonthIndex 37, 38, 39 → 21.834,88 €; 22.138,46 €; 22.442,04 €.
- Crescita mensile: coefficiente di MonthIndex nel modello semplice = 303,577 (Task 5 punto 3).
- Media mensile 2025: 227.095,1 / 12 = 18.924,6 € (Task 3c punto 3).
- Affidabilità: R² test del modello semplice = -1,879 (Task 5 punto 3); validazione cronologica, R² medio = -1,04 (Task 5 approfondimento).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Azione 1: medie per gruppo e correlazioni del Task 4; modello del Task 6a.
- Azione 2: stima della slide 9, da Task 6b punto 3.
- Azione 3: ScontoMedio 0,13 in entrambi i gruppi; correlazione con il churn -0,01 (Task 4).
- Azione 4: Outdoor 59,3% del fatturato (Task 3b punto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 per la verifica:
- Costi non presenti nel dataset: Task 6a punto 2 (nota sull'ipotesi della traccia).
- Previsione mensile poco affidabile: Task 5 approfondimento, validazione cronologica con R² medio negativo.
- Dati mancanti: Task 3a punto 1, SalesAmount 100 NaN su 2000 (5,0%).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EEB2CDC-A23C-43B7-5B3E-A34642992CBC}"/>
              </a:ext>
            </a:extLst>
          </p:cNvPr>
          <p:cNvSpPr txBox="1"/>
          <p:nvPr/>
        </p:nvSpPr>
        <p:spPr>
          <a:xfrm>
            <a:off x="3132150" y="1193074"/>
            <a:ext cx="2879699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ToysGroup</a:t>
            </a:r>
            <a:endParaRPr lang="en-US" sz="4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4000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Analisi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dei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Dati e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Modelli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Predittivi</a:t>
            </a:r>
            <a:endParaRPr lang="it-IT" sz="14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ADB6F7-F819-6575-F4D9-EAFC4D42AE8D}"/>
              </a:ext>
            </a:extLst>
          </p:cNvPr>
          <p:cNvSpPr txBox="1"/>
          <p:nvPr/>
        </p:nvSpPr>
        <p:spPr>
          <a:xfrm>
            <a:off x="400594" y="4258491"/>
            <a:ext cx="2734492" cy="383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Giovanni Fercioni</a:t>
            </a:r>
          </a:p>
        </p:txBody>
      </p:sp>
    </p:spTree>
    <p:extLst>
      <p:ext uri="{BB962C8B-B14F-4D97-AF65-F5344CB8AC3E}">
        <p14:creationId xmlns:p14="http://schemas.microsoft.com/office/powerpoint/2010/main" val="3625564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ToysGroup · Vendite e rivenditori 2023–2025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dicono i dati e dove intervenire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fatturato cresce da due anni: +28% nel 2024 e +21% nel 2025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rivenditore su quattro smette di ordinare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possibile individuare in anticipo gran parte dei rivenditori a rischio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3c punto 3 (fatturato annuo) · Task 6a punto 1 (quota di churn) · Task 6a punti 2–3 (modello, soglia 0,3)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perimetro dell'analisi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quali dati si basano le conclusioni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anni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gennaio 2023 – dicembre 2025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vendite analizzate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prodotti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 categorie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rivenditori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paesi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3 aree di vendita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delle vendite con importo registrato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100 vendite senza importo (5% del totale di 2.000) sono escluse dai calcoli sul fatturato.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1 punto 1 e Task 2 punto 1 (dimensioni dei file) · Task 3a punti 1–2 (dati mancanti) · Task 3c punti 3–4 (periodo)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39" y="365760"/>
            <a:ext cx="83950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L'azienda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Fatturato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mensile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gennaio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2023 –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dicembre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</a:t>
            </a:r>
            <a:endParaRPr lang="en-US" sz="1600" dirty="0"/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417320"/>
            <a:ext cx="25603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8485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103120"/>
            <a:ext cx="25603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47065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788920"/>
            <a:ext cx="25603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15645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3c punto 3 (fatturato mensile e annuo) · Task 4 punto 1 (grafico a linee)</a:t>
            </a:r>
            <a:endParaRPr lang="en-US" sz="10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0CFED399-2D8E-2A7D-89F0-839FCCB37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24" y="778788"/>
            <a:ext cx="8300789" cy="292654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0A2174A-EBDC-E946-DC2F-B802A3EEAEF1}"/>
              </a:ext>
            </a:extLst>
          </p:cNvPr>
          <p:cNvSpPr txBox="1"/>
          <p:nvPr/>
        </p:nvSpPr>
        <p:spPr>
          <a:xfrm>
            <a:off x="822960" y="3802106"/>
            <a:ext cx="75024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fatturato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 2023: 145.805 €;  </a:t>
            </a:r>
            <a:r>
              <a:rPr lang="en-US" sz="11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fatturato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 2024: 187.175 €,  </a:t>
            </a: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+28%; </a:t>
            </a:r>
            <a:r>
              <a:rPr lang="en-US" sz="1100" u="sng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fatturato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 2025: 227.095 €</a:t>
            </a: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, +21%</a:t>
            </a:r>
          </a:p>
          <a:p>
            <a:endParaRPr lang="en-US" sz="11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Mese </a:t>
            </a:r>
            <a:r>
              <a:rPr lang="en-US" sz="11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migliore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maggio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 2025 (29.368 €). Forti </a:t>
            </a:r>
            <a:r>
              <a:rPr lang="en-US" sz="11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oscillazioni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 da un mese </a:t>
            </a:r>
            <a:r>
              <a:rPr lang="en-US" sz="11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all'altro</a:t>
            </a: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La </a:t>
            </a:r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Categoria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più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profittevole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: Outdoor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470262" y="4032068"/>
            <a:ext cx="8429897" cy="5660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fatturato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valore delle vendite (biciclette e monopattino), non solo alla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quantità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vendute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3b punto 2 (fatturato per categoria) · Task 4 punto 2a (mediane) · Task 7 caso 4 (vendite sopra 500 €)</a:t>
            </a:r>
            <a:endParaRPr lang="en-US" sz="1000" dirty="0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F0CC99AE-040F-3A7C-E939-B30D3F62D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609375"/>
              </p:ext>
            </p:extLst>
          </p:nvPr>
        </p:nvGraphicFramePr>
        <p:xfrm>
          <a:off x="548640" y="1563144"/>
          <a:ext cx="3135086" cy="2148885"/>
        </p:xfrm>
        <a:graphic>
          <a:graphicData uri="http://schemas.openxmlformats.org/drawingml/2006/table">
            <a:tbl>
              <a:tblPr/>
              <a:tblGrid>
                <a:gridCol w="956604">
                  <a:extLst>
                    <a:ext uri="{9D8B030D-6E8A-4147-A177-3AD203B41FA5}">
                      <a16:colId xmlns:a16="http://schemas.microsoft.com/office/drawing/2014/main" val="4265819837"/>
                    </a:ext>
                  </a:extLst>
                </a:gridCol>
                <a:gridCol w="771714">
                  <a:extLst>
                    <a:ext uri="{9D8B030D-6E8A-4147-A177-3AD203B41FA5}">
                      <a16:colId xmlns:a16="http://schemas.microsoft.com/office/drawing/2014/main" val="3628521125"/>
                    </a:ext>
                  </a:extLst>
                </a:gridCol>
                <a:gridCol w="763674">
                  <a:extLst>
                    <a:ext uri="{9D8B030D-6E8A-4147-A177-3AD203B41FA5}">
                      <a16:colId xmlns:a16="http://schemas.microsoft.com/office/drawing/2014/main" val="1910959808"/>
                    </a:ext>
                  </a:extLst>
                </a:gridCol>
                <a:gridCol w="643094">
                  <a:extLst>
                    <a:ext uri="{9D8B030D-6E8A-4147-A177-3AD203B41FA5}">
                      <a16:colId xmlns:a16="http://schemas.microsoft.com/office/drawing/2014/main" val="3837628525"/>
                    </a:ext>
                  </a:extLst>
                </a:gridCol>
              </a:tblGrid>
              <a:tr h="2545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Categoria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Fatturato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Quantità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Transazioni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02B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907531"/>
                  </a:ext>
                </a:extLst>
              </a:tr>
              <a:tr h="4735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Outdoor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331.998,40 €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57317"/>
                  </a:ext>
                </a:extLst>
              </a:tr>
              <a:tr h="4735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Giocattoli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174.832,00 €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34031"/>
                  </a:ext>
                </a:extLst>
              </a:tr>
              <a:tr h="4735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Giochi da tavolo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53.245,10 €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754013"/>
                  </a:ext>
                </a:extLst>
              </a:tr>
              <a:tr h="4735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560.075,50 €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9.441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460241"/>
                  </a:ext>
                </a:extLst>
              </a:tr>
            </a:tbl>
          </a:graphicData>
        </a:graphic>
      </p:graphicFrame>
      <p:pic>
        <p:nvPicPr>
          <p:cNvPr id="13" name="Immagine 12">
            <a:extLst>
              <a:ext uri="{FF2B5EF4-FFF2-40B4-BE49-F238E27FC236}">
                <a16:creationId xmlns:a16="http://schemas.microsoft.com/office/drawing/2014/main" id="{5DD68BB0-AB66-9797-1A51-7838AA5D1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669" y="1382486"/>
            <a:ext cx="4449691" cy="26495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si vende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Fatturato 2023–2025 per paese: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mercati</a:t>
            </a: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equilibrati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144937"/>
              </p:ext>
            </p:extLst>
          </p:nvPr>
        </p:nvGraphicFramePr>
        <p:xfrm>
          <a:off x="6050347" y="2969187"/>
          <a:ext cx="2806261" cy="1389888"/>
        </p:xfrm>
        <a:graphic>
          <a:graphicData uri="http://schemas.openxmlformats.org/drawingml/2006/table">
            <a:tbl>
              <a:tblPr/>
              <a:tblGrid>
                <a:gridCol w="1603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di vendita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Fatturato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Centro Europa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201.062 €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Nord Europa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190.189 €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Sud Europa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168.824 €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50347" y="1600200"/>
            <a:ext cx="298915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 prima (13% del totale) grazie al numero di ordini (278), con lo scontrino medio più basso (268 €)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primi quattro paesi sono vicini: tra 69.000 e 74.000 €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3b punto 2 (fatturato per area) · Task 4 punto 3 (fatturato, transazioni e scontrino per paese)</a:t>
            </a:r>
            <a:endParaRPr lang="en-US" sz="10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CD9B160-6EE4-03C2-CB8E-335A94DE8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98" y="1348740"/>
            <a:ext cx="5685549" cy="3027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problema: l'abbandono dei rivenditori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crescita poggia su una rete che si assottiglia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 4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167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rivenditori smette di ordinare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45920"/>
          <a:ext cx="4114800" cy="13898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Rivenditori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Continuano a ordinare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Smettono di ordinare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rivenditore "in churn" non riordina da oltre 6 mesi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rivenditore perso è fatturato futuro che non tornerà: la domanda è chi rischia e perché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6a punto 1 (quota di churn) · Task 4 (tabella incrociata del churn)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i rivenditori se ne vanno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78824" y="1869622"/>
            <a:ext cx="3291840" cy="1426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sconto è identico nei due gruppi: aumentarlo non trattiene i rivenditori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reclami non fanno una differenza apprezzabile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4 punto 2b (heatmap delle correlazioni) e verifiche successive (medie per gruppo)</a:t>
            </a:r>
            <a:endParaRPr lang="en-US" sz="10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9733C69-5BBC-80F9-316D-396665481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771" y="1097279"/>
            <a:ext cx="4933405" cy="34921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9F130-ECE7-8AE7-138E-3D4E5BBD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E419E2-BD3B-9021-7786-80642B14AF9A}"/>
              </a:ext>
            </a:extLst>
          </p:cNvPr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i rivenditori se ne vanno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82DD31-ABCC-B177-98AD-DCF2EC100AB0}"/>
              </a:ext>
            </a:extLst>
          </p:cNvPr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medio tra chi resta e chi abbandona</a:t>
            </a:r>
            <a:endParaRPr lang="en-US" sz="16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2BF0FA10-12B3-1820-BE3B-6A6C91DDFF66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463040"/>
          <a:ext cx="4572000" cy="2057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Abbandona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Giorni dall'ultimo ordine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Ordini negli ultimi 12 mesi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Sconto medio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Reclami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4A20FF39-C1DD-882C-4AA4-069B4F7B2F03}"/>
              </a:ext>
            </a:extLst>
          </p:cNvPr>
          <p:cNvSpPr txBox="1"/>
          <p:nvPr/>
        </p:nvSpPr>
        <p:spPr>
          <a:xfrm>
            <a:off x="5394960" y="1463040"/>
            <a:ext cx="32918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segnale più forte è il tempo dall'ultimo ordine: chi abbandona non ordinava da quasi il doppio dei giorni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Anche la frequenza conta: chi abbandona ordina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spesso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E1AAE09-ADAC-B4A5-5DBA-CD6D0081C2C2}"/>
              </a:ext>
            </a:extLst>
          </p:cNvPr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4 punto 2b (heatmap delle correlazioni) e verifiche successive (medie per gruppo)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6583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sono i rivenditori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segmenti per comportamento d'acquisto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rischio di abbandono cresce con i giorni dall'ultimo ordine: dal 6% dei Top clienti al 51% dei Dormienti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6b punti 2–3 (K-Means con 4 segmenti, profilo e quota di churn) · Fatturato medio = totale 2023–2025 per rivenditore</a:t>
            </a:r>
            <a:endParaRPr lang="en-US" sz="1000" dirty="0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EEA3FF9-6C52-1F90-AD7F-1BD7D8905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001831"/>
              </p:ext>
            </p:extLst>
          </p:nvPr>
        </p:nvGraphicFramePr>
        <p:xfrm>
          <a:off x="769983" y="1464128"/>
          <a:ext cx="7633788" cy="22391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2260">
                  <a:extLst>
                    <a:ext uri="{9D8B030D-6E8A-4147-A177-3AD203B41FA5}">
                      <a16:colId xmlns:a16="http://schemas.microsoft.com/office/drawing/2014/main" val="656672055"/>
                    </a:ext>
                  </a:extLst>
                </a:gridCol>
                <a:gridCol w="1357118">
                  <a:extLst>
                    <a:ext uri="{9D8B030D-6E8A-4147-A177-3AD203B41FA5}">
                      <a16:colId xmlns:a16="http://schemas.microsoft.com/office/drawing/2014/main" val="850534553"/>
                    </a:ext>
                  </a:extLst>
                </a:gridCol>
                <a:gridCol w="1342982">
                  <a:extLst>
                    <a:ext uri="{9D8B030D-6E8A-4147-A177-3AD203B41FA5}">
                      <a16:colId xmlns:a16="http://schemas.microsoft.com/office/drawing/2014/main" val="406791599"/>
                    </a:ext>
                  </a:extLst>
                </a:gridCol>
                <a:gridCol w="1130932">
                  <a:extLst>
                    <a:ext uri="{9D8B030D-6E8A-4147-A177-3AD203B41FA5}">
                      <a16:colId xmlns:a16="http://schemas.microsoft.com/office/drawing/2014/main" val="3691570088"/>
                    </a:ext>
                  </a:extLst>
                </a:gridCol>
                <a:gridCol w="1060248">
                  <a:extLst>
                    <a:ext uri="{9D8B030D-6E8A-4147-A177-3AD203B41FA5}">
                      <a16:colId xmlns:a16="http://schemas.microsoft.com/office/drawing/2014/main" val="1230735805"/>
                    </a:ext>
                  </a:extLst>
                </a:gridCol>
                <a:gridCol w="1060248">
                  <a:extLst>
                    <a:ext uri="{9D8B030D-6E8A-4147-A177-3AD203B41FA5}">
                      <a16:colId xmlns:a16="http://schemas.microsoft.com/office/drawing/2014/main" val="2857352955"/>
                    </a:ext>
                  </a:extLst>
                </a:gridCol>
              </a:tblGrid>
              <a:tr h="6106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Segmento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Resellers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Ordini12m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Giorni Ultimo Ordine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Revenue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ChurnRate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2813899"/>
                  </a:ext>
                </a:extLst>
              </a:tr>
              <a:tr h="339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Dormienti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74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11.00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151.19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797.68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51.35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9191671"/>
                  </a:ext>
                </a:extLst>
              </a:tr>
              <a:tr h="6106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Clienti di valore in calo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79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14.48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124.19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2019.67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27.85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93665361"/>
                  </a:ext>
                </a:extLst>
              </a:tr>
              <a:tr h="339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Regolari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83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19.94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44.51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1422.53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8.43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2965277"/>
                  </a:ext>
                </a:extLst>
              </a:tr>
              <a:tr h="339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Top clienti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64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22.20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37.56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3490.99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000" u="none" strike="noStrike" dirty="0">
                          <a:effectLst/>
                        </a:rPr>
                        <a:t>6.25</a:t>
                      </a:r>
                      <a:endParaRPr lang="it-IT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33399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strumento di allerta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modello che segnala in anticipo i rivenditori a rischio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5603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su 10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80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rivenditori in uscita individuati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554480"/>
            <a:ext cx="25603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su 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080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segnalazioni corrette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554480"/>
            <a:ext cx="25603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su 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080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il modello ordina bene il rischio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60 rivenditori di verifica, il modello ne segnala 20: 10 abbandonano davvero, 10 sono falsi allarmi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soglia è stata abbassata per trovare più rivenditori in uscita: da 4 a 10 su 14, accettando più falsi allarmi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falso allarme costa al massimo un contatto in più; un rivenditore perso costa tutto il suo fatturato futuro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6a punti 2–3 (matrice di confusione e metriche con soglia 0,3) · Task 6a AUC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aspettarsi nei prossimi mesi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Stima della tendenza per il primo trimestre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5603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21.835 €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8551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gennaio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554480"/>
            <a:ext cx="25603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22.138 €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98551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febbraio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554480"/>
            <a:ext cx="25603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22.442 €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98551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432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tendenza di fondo è una crescita di circa 300 € al mese, sopra la media mensile del 2025 (circa 18.900 €)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Attenzione: il fatturato del singolo mese oscilla molto e il modello non riesce a prevederlo con precisione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 valori indicano il livello atteso, utile per obiettivi e budget, non una previsione mese per mese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5 punto 3 (coefficiente e previsione con il modello semplice) · Task 5 approfondimento (validazione incrociata)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Raccomandazioni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azioni che discendono dai risultati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Monitorare ogni mese giorni dall'ultimo ordine e frequenza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Sono i due segnali che anticipano l'abbandono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Contattare per primi i Clienti di valore in calo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420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segmento che mette a rischio </a:t>
            </a:r>
            <a:r>
              <a:rPr lang="en-US" sz="14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più</a:t>
            </a: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fatturato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Non puntare sugli sconti per trattenere i rivenditori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73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sconto medio è identico tra chi resta e chi abbandona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Proteggere la linea Outdoor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05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il 59% del fatturato: una dipendenza da presidiare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4 punto 2b e Task 6a (segnali di abbandono) · Task 6b punto 3 (segmenti) · Task 3b punto 2 (categorie)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e prossimi passi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servirebbe per andare oltre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Costi delle azioni di fidelizzazione: oggi il confronto tra falsi allarmi e rivenditori persi è solo qualitativo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Motivi dell'abbandono: i dati dicono chi abbandona, non perché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Storico più lungo: con 36 mesi il fatturato mensile non è prevedibile con precisione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completi: il 5% delle vendite non riporta l'importo ed è escluso dall'analisi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Fonti: Task 6a punto 2 (confronto dei costi) · Task 5 approfondimento (validazione incrociata) · Task 3a punto 1 (dati mancanti)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BA8ACCF-CA46-2CED-CBA9-95C95800054F}"/>
              </a:ext>
            </a:extLst>
          </p:cNvPr>
          <p:cNvSpPr txBox="1"/>
          <p:nvPr/>
        </p:nvSpPr>
        <p:spPr>
          <a:xfrm>
            <a:off x="2002971" y="2217807"/>
            <a:ext cx="5138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31182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2586</Words>
  <Application>Microsoft Office PowerPoint</Application>
  <PresentationFormat>Presentazione su schermo (16:9)</PresentationFormat>
  <Paragraphs>212</Paragraphs>
  <Slides>15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ToysGroup · Vendite e rivenditori 2023–2025</dc:title>
  <dc:subject>PptxGenJS Presentation</dc:subject>
  <dc:creator>PptxGenJS</dc:creator>
  <cp:lastModifiedBy>Giovanni Fercioni</cp:lastModifiedBy>
  <cp:revision>8</cp:revision>
  <dcterms:created xsi:type="dcterms:W3CDTF">2026-10-26T14:01:02Z</dcterms:created>
  <dcterms:modified xsi:type="dcterms:W3CDTF">2026-10-26T14:52:54Z</dcterms:modified>
</cp:coreProperties>
</file>